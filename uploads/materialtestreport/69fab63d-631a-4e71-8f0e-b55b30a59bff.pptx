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8" r:id="rId3"/>
    <p:sldId id="289" r:id="rId4"/>
    <p:sldId id="290" r:id="rId5"/>
    <p:sldId id="292" r:id="rId6"/>
    <p:sldId id="293" r:id="rId7"/>
    <p:sldId id="294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6E6"/>
    <a:srgbClr val="DEEBF7"/>
    <a:srgbClr val="FFFFFF"/>
    <a:srgbClr val="F0FAFB"/>
    <a:srgbClr val="3C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4266" autoAdjust="0"/>
  </p:normalViewPr>
  <p:slideViewPr>
    <p:cSldViewPr snapToGrid="0">
      <p:cViewPr varScale="1">
        <p:scale>
          <a:sx n="91" d="100"/>
          <a:sy n="91" d="100"/>
        </p:scale>
        <p:origin x="5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60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323E-9FAD-49C4-8073-9B6D9B06FF9F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8001-4693-4380-8DFD-AF11569F79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93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323E-9FAD-49C4-8073-9B6D9B06FF9F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8001-4693-4380-8DFD-AF11569F79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97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270"/>
            <a:ext cx="12192000" cy="6655645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4601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323E-9FAD-49C4-8073-9B6D9B06FF9F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8001-4693-4380-8DFD-AF11569F79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4883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323E-9FAD-49C4-8073-9B6D9B06FF9F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8001-4693-4380-8DFD-AF11569F79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205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323E-9FAD-49C4-8073-9B6D9B06FF9F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8001-4693-4380-8DFD-AF11569F79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7422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323E-9FAD-49C4-8073-9B6D9B06FF9F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8001-4693-4380-8DFD-AF11569F79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2420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323E-9FAD-49C4-8073-9B6D9B06FF9F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8001-4693-4380-8DFD-AF11569F79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0129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323E-9FAD-49C4-8073-9B6D9B06FF9F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8001-4693-4380-8DFD-AF11569F79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9030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323E-9FAD-49C4-8073-9B6D9B06FF9F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8001-4693-4380-8DFD-AF11569F79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382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323E-9FAD-49C4-8073-9B6D9B06FF9F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8001-4693-4380-8DFD-AF11569F79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0899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323E-9FAD-49C4-8073-9B6D9B06FF9F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8001-4693-4380-8DFD-AF11569F79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940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5323E-9FAD-49C4-8073-9B6D9B06FF9F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E8001-4693-4380-8DFD-AF11569F79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2724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6175125"/>
              </p:ext>
            </p:extLst>
          </p:nvPr>
        </p:nvGraphicFramePr>
        <p:xfrm>
          <a:off x="0" y="171225"/>
          <a:ext cx="12192000" cy="66221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257637337"/>
                    </a:ext>
                  </a:extLst>
                </a:gridCol>
              </a:tblGrid>
              <a:tr h="543826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、每日寄送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Email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休假報表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29300"/>
                  </a:ext>
                </a:extLst>
              </a:tr>
              <a:tr h="543826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Gửi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cáo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nghỉ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qua Email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hằng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45384"/>
                  </a:ext>
                </a:extLst>
              </a:tr>
              <a:tr h="5438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Email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報表內要有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URL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，連結到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Web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站台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573856"/>
                  </a:ext>
                </a:extLst>
              </a:tr>
              <a:tr h="5438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 Email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cáo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phải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URL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liên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 (Web)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48849"/>
                  </a:ext>
                </a:extLst>
              </a:tr>
              <a:tr h="543826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Web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站台要有依日期、姓名、廠別查詢的功能，同時也能看更詳細的資料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596147"/>
                  </a:ext>
                </a:extLst>
              </a:tr>
              <a:tr h="5438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vi-VN" b="1" dirty="0">
                          <a:latin typeface="+mj-lt"/>
                        </a:rPr>
                        <a:t>Website</a:t>
                      </a:r>
                      <a:r>
                        <a:rPr lang="vi-VN" dirty="0">
                          <a:latin typeface="+mj-lt"/>
                        </a:rPr>
                        <a:t> cần có chức năng tra cứu theo </a:t>
                      </a:r>
                      <a:r>
                        <a:rPr lang="vi-VN" b="1" dirty="0">
                          <a:latin typeface="+mj-lt"/>
                        </a:rPr>
                        <a:t>ngày, tên, nhà máy</a:t>
                      </a:r>
                      <a:r>
                        <a:rPr lang="vi-VN" dirty="0">
                          <a:latin typeface="+mj-lt"/>
                        </a:rPr>
                        <a:t>, đồng thời có thể xem </a:t>
                      </a:r>
                      <a:r>
                        <a:rPr lang="vi-VN" b="1" dirty="0">
                          <a:latin typeface="+mj-lt"/>
                        </a:rPr>
                        <a:t>thông tin chi tiết hơn</a:t>
                      </a:r>
                      <a:endParaRPr lang="vi-VN" dirty="0">
                        <a:latin typeface="+mj-lt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802179"/>
                  </a:ext>
                </a:extLst>
              </a:tr>
              <a:tr h="5438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Email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報表、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Web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站台字型</a:t>
                      </a:r>
                      <a:r>
                        <a:rPr lang="zh-TW" altLang="en-US" sz="18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統一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使用：</a:t>
                      </a:r>
                      <a:r>
                        <a:rPr lang="vi-VN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Microsoft JhengHei UI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7414"/>
                  </a:ext>
                </a:extLst>
              </a:tr>
              <a:tr h="5438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Font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chữ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trên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cả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cáo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Website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sử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JhengHei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465156"/>
                  </a:ext>
                </a:extLst>
              </a:tr>
              <a:tr h="543826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、原則上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Email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報表上呈現所有廠的休假資訊，但是春節的那個月份要區分廠別顯示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615138"/>
                  </a:ext>
                </a:extLst>
              </a:tr>
              <a:tr h="543826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Nguyên tắc:</a:t>
                      </a:r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trên Email báo cáo hiển thị </a:t>
                      </a:r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 tin nghỉ phép của tất cả các nhà máy</a:t>
                      </a:r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nhưng </a:t>
                      </a:r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tháng có Tết Nguyên Đán</a:t>
                      </a:r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thì cần </a:t>
                      </a:r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 biệt hiển thị theo từng nhà máy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826832"/>
                  </a:ext>
                </a:extLst>
              </a:tr>
              <a:tr h="543826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、先做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Web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站台、再做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Email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報表</a:t>
                      </a: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731522"/>
                  </a:ext>
                </a:extLst>
              </a:tr>
              <a:tr h="543826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Ưu tiên làm Website trước</a:t>
                      </a:r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sau đó mới làm </a:t>
                      </a:r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 báo cáo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97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380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2462" y="135815"/>
            <a:ext cx="11032987" cy="665638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37992" y="1979407"/>
            <a:ext cx="6278908" cy="2312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億春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李福斌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回國休：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2/7~2/20)</a:t>
            </a:r>
            <a:endParaRPr lang="zh-TW" altLang="en-US" sz="140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6900" y="3246166"/>
            <a:ext cx="10980000" cy="2312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億春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李福斌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回國休：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2/7~2/20)</a:t>
            </a:r>
            <a:endParaRPr lang="zh-TW" altLang="en-US" sz="140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6900" y="4545245"/>
            <a:ext cx="7812000" cy="2312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億春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李福斌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回國休：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2/7~2/20)</a:t>
            </a:r>
            <a:endParaRPr lang="zh-TW" altLang="en-US" sz="140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37992" y="2241411"/>
            <a:ext cx="6278908" cy="2312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嘉智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江治云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回國休：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2/14~2/27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、在地休：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2/28~3/1)</a:t>
            </a:r>
            <a:endParaRPr lang="zh-TW" altLang="en-US" sz="140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6900" y="4813296"/>
            <a:ext cx="11006494" cy="2312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嘉智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江治云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回國休：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2/14~2/27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、在地休：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2/28~3/1)</a:t>
            </a:r>
            <a:endParaRPr lang="zh-TW" altLang="en-US" sz="140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6900" y="5802749"/>
            <a:ext cx="10980000" cy="2312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嘉智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李福斌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回國休：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2/14~2/27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、在地休：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2/28~3/1)</a:t>
            </a:r>
            <a:endParaRPr lang="zh-TW" altLang="en-US" sz="140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6899" y="3509603"/>
            <a:ext cx="10993247" cy="2312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嘉智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江治云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回國休：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2/14~2/27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、在地休：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2/28~3/1)</a:t>
            </a:r>
            <a:endParaRPr lang="zh-TW" altLang="en-US" sz="140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03795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3239473" y="1733971"/>
            <a:ext cx="7614482" cy="187113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91440"/>
            <a:ext cx="12192000" cy="3789649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TW" sz="4000" b="1" dirty="0"/>
              <a:t>Calendar Display Rules</a:t>
            </a:r>
          </a:p>
          <a:p>
            <a:pPr marL="0" indent="0" algn="ctr">
              <a:buNone/>
            </a:pPr>
            <a:r>
              <a:rPr lang="en-US" altLang="zh-TW" sz="2400" dirty="0">
                <a:solidFill>
                  <a:srgbClr val="0070C0"/>
                </a:solidFill>
              </a:rPr>
              <a:t>{Factory} </a:t>
            </a:r>
            <a:r>
              <a:rPr lang="en-US" altLang="zh-TW" sz="2400" dirty="0"/>
              <a:t>- </a:t>
            </a:r>
            <a:r>
              <a:rPr lang="en-US" altLang="zh-TW" sz="2400" dirty="0">
                <a:solidFill>
                  <a:srgbClr val="0070C0"/>
                </a:solidFill>
              </a:rPr>
              <a:t>{Name} </a:t>
            </a:r>
            <a:r>
              <a:rPr lang="en-US" altLang="zh-TW" sz="2400" dirty="0"/>
              <a:t>(</a:t>
            </a:r>
            <a:r>
              <a:rPr lang="en-US" altLang="zh-TW" sz="2400" dirty="0">
                <a:solidFill>
                  <a:srgbClr val="7030A0"/>
                </a:solidFill>
              </a:rPr>
              <a:t>{LeaveType1}</a:t>
            </a:r>
            <a:r>
              <a:rPr lang="zh-TW" altLang="en-US" sz="2400" dirty="0">
                <a:solidFill>
                  <a:srgbClr val="7030A0"/>
                </a:solidFill>
              </a:rPr>
              <a:t>：</a:t>
            </a:r>
            <a:r>
              <a:rPr lang="en-US" altLang="zh-TW" sz="2400" dirty="0">
                <a:solidFill>
                  <a:srgbClr val="7030A0"/>
                </a:solidFill>
              </a:rPr>
              <a:t>{DatePeriod1}</a:t>
            </a:r>
            <a:r>
              <a:rPr lang="zh-TW" altLang="en-US" sz="2400" dirty="0"/>
              <a:t>、</a:t>
            </a:r>
            <a:r>
              <a:rPr lang="en-US" altLang="zh-TW" sz="2400" dirty="0">
                <a:solidFill>
                  <a:srgbClr val="7030A0"/>
                </a:solidFill>
              </a:rPr>
              <a:t>{LeaveType2}</a:t>
            </a:r>
            <a:r>
              <a:rPr lang="zh-TW" altLang="en-US" sz="2400" dirty="0">
                <a:solidFill>
                  <a:srgbClr val="7030A0"/>
                </a:solidFill>
              </a:rPr>
              <a:t>：</a:t>
            </a:r>
            <a:r>
              <a:rPr lang="en-US" altLang="zh-TW" sz="2400" dirty="0">
                <a:solidFill>
                  <a:srgbClr val="7030A0"/>
                </a:solidFill>
              </a:rPr>
              <a:t>{DatePeriod2}</a:t>
            </a:r>
            <a:r>
              <a:rPr lang="en-US" altLang="zh-TW" sz="2400" dirty="0"/>
              <a:t>…..)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51201" y="709507"/>
            <a:ext cx="8001000" cy="4656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Straight Arrow Connector 6"/>
          <p:cNvCxnSpPr>
            <a:stCxn id="5" idx="2"/>
            <a:endCxn id="19" idx="0"/>
          </p:cNvCxnSpPr>
          <p:nvPr/>
        </p:nvCxnSpPr>
        <p:spPr>
          <a:xfrm flipH="1">
            <a:off x="7046714" y="1175174"/>
            <a:ext cx="204987" cy="55879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24366" y="2185054"/>
            <a:ext cx="4523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在地休：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2/13,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2/28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、回國休：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2/14~2/27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06889" y="1784944"/>
            <a:ext cx="7283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#1. The dates are NOT consecutive: Use commas to separate dates.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06889" y="2677293"/>
            <a:ext cx="75470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#2. The dates are consecutive:</a:t>
            </a:r>
            <a:r>
              <a:rPr lang="zh-TW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TW" sz="2000" b="1" dirty="0">
                <a:solidFill>
                  <a:srgbClr val="FF0000"/>
                </a:solidFill>
              </a:rPr>
              <a:t>Use a tilde (</a:t>
            </a:r>
            <a:r>
              <a:rPr lang="en-US" altLang="zh-TW" sz="2000" b="1" dirty="0">
                <a:solidFill>
                  <a:srgbClr val="FF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~</a:t>
            </a:r>
            <a:r>
              <a:rPr lang="en-US" altLang="zh-TW" sz="2000" b="1" dirty="0">
                <a:solidFill>
                  <a:srgbClr val="FF0000"/>
                </a:solidFill>
              </a:rPr>
              <a:t>) to indicate a date range.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24366" y="3010653"/>
            <a:ext cx="4583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在地休：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2/13~2/15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、回國休：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2/16~2/27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6" name="Right Arrow 25"/>
          <p:cNvSpPr/>
          <p:nvPr/>
        </p:nvSpPr>
        <p:spPr>
          <a:xfrm rot="16200000">
            <a:off x="5197671" y="3346235"/>
            <a:ext cx="264412" cy="173548"/>
          </a:xfrm>
          <a:prstGeom prst="rightArrow">
            <a:avLst/>
          </a:prstGeom>
          <a:solidFill>
            <a:srgbClr val="C0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Right Arrow 26"/>
          <p:cNvSpPr/>
          <p:nvPr/>
        </p:nvSpPr>
        <p:spPr>
          <a:xfrm rot="16200000">
            <a:off x="5110897" y="2550626"/>
            <a:ext cx="264412" cy="173548"/>
          </a:xfrm>
          <a:prstGeom prst="rightArrow">
            <a:avLst/>
          </a:prstGeom>
          <a:solidFill>
            <a:srgbClr val="C0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Rounded Rectangle 32"/>
          <p:cNvSpPr/>
          <p:nvPr/>
        </p:nvSpPr>
        <p:spPr>
          <a:xfrm>
            <a:off x="2108500" y="5189629"/>
            <a:ext cx="9785340" cy="2312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樂億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 KATHLEEN JOY C.SERNA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在地休：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2/13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、回國休：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2/14~2/22)</a:t>
            </a:r>
            <a:endParaRPr lang="zh-TW" altLang="en-US" sz="140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108500" y="4624980"/>
            <a:ext cx="9785340" cy="2312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億春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李福斌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回國休：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2/7~2/20)</a:t>
            </a:r>
            <a:endParaRPr lang="zh-TW" altLang="en-US" sz="140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108500" y="5809598"/>
            <a:ext cx="9785340" cy="2312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樂億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黃俏俏 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回國休：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2/14~2/28</a:t>
            </a:r>
            <a:r>
              <a:rPr lang="zh-TW" altLang="en-US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、在地休：</a:t>
            </a:r>
            <a:r>
              <a:rPr lang="en-US" altLang="zh-TW" sz="1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3/1)</a:t>
            </a:r>
            <a:endParaRPr lang="zh-TW" altLang="en-US" sz="140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Left Brace 35"/>
          <p:cNvSpPr/>
          <p:nvPr/>
        </p:nvSpPr>
        <p:spPr>
          <a:xfrm>
            <a:off x="1735667" y="4407716"/>
            <a:ext cx="262467" cy="1633171"/>
          </a:xfrm>
          <a:prstGeom prst="leftBrace">
            <a:avLst>
              <a:gd name="adj1" fmla="val 47463"/>
              <a:gd name="adj2" fmla="val 50000"/>
            </a:avLst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195294" y="4901135"/>
            <a:ext cx="1430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chemeClr val="accent6">
                    <a:lumMod val="50000"/>
                  </a:schemeClr>
                </a:solidFill>
              </a:rPr>
              <a:t>Actual Data Example</a:t>
            </a:r>
            <a:endParaRPr lang="zh-TW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08500" y="5593695"/>
            <a:ext cx="883810" cy="189301"/>
          </a:xfrm>
          <a:prstGeom prst="rect">
            <a:avLst/>
          </a:prstGeom>
          <a:solidFill>
            <a:srgbClr val="FFC000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TW" sz="1050"/>
              <a:t>LYV, 51187</a:t>
            </a:r>
            <a:endParaRPr lang="zh-TW" altLang="en-US" sz="1050"/>
          </a:p>
        </p:txBody>
      </p:sp>
      <p:sp>
        <p:nvSpPr>
          <p:cNvPr id="39" name="TextBox 38"/>
          <p:cNvSpPr txBox="1"/>
          <p:nvPr/>
        </p:nvSpPr>
        <p:spPr>
          <a:xfrm>
            <a:off x="2108500" y="4985697"/>
            <a:ext cx="883810" cy="189301"/>
          </a:xfrm>
          <a:prstGeom prst="rect">
            <a:avLst/>
          </a:prstGeom>
          <a:solidFill>
            <a:srgbClr val="FFC000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TW" sz="1050"/>
              <a:t>LHG, 00217</a:t>
            </a:r>
            <a:endParaRPr lang="zh-TW" altLang="en-US" sz="1050"/>
          </a:p>
        </p:txBody>
      </p:sp>
      <p:sp>
        <p:nvSpPr>
          <p:cNvPr id="40" name="TextBox 39"/>
          <p:cNvSpPr txBox="1"/>
          <p:nvPr/>
        </p:nvSpPr>
        <p:spPr>
          <a:xfrm>
            <a:off x="2108500" y="4407716"/>
            <a:ext cx="883810" cy="189301"/>
          </a:xfrm>
          <a:prstGeom prst="rect">
            <a:avLst/>
          </a:prstGeom>
          <a:solidFill>
            <a:srgbClr val="FFC000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zh-TW" sz="1050"/>
              <a:t>LVL, 51115</a:t>
            </a:r>
            <a:endParaRPr lang="zh-TW" altLang="en-US" sz="1050"/>
          </a:p>
        </p:txBody>
      </p:sp>
    </p:spTree>
    <p:extLst>
      <p:ext uri="{BB962C8B-B14F-4D97-AF65-F5344CB8AC3E}">
        <p14:creationId xmlns:p14="http://schemas.microsoft.com/office/powerpoint/2010/main" val="3028831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82825"/>
            <a:ext cx="12192000" cy="62145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191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sz="3200" b="1">
                <a:latin typeface="+mn-lt"/>
              </a:rPr>
              <a:t>Website</a:t>
            </a:r>
            <a:r>
              <a:rPr lang="en-US" altLang="zh-TW" sz="3600" b="1">
                <a:latin typeface="+mn-lt"/>
              </a:rPr>
              <a:t> UI</a:t>
            </a:r>
            <a:endParaRPr lang="zh-TW" altLang="en-US" sz="3600" b="1">
              <a:latin typeface="+mn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946006" y="2009775"/>
            <a:ext cx="8845818" cy="4762500"/>
          </a:xfrm>
          <a:prstGeom prst="roundRect">
            <a:avLst>
              <a:gd name="adj" fmla="val 1991"/>
            </a:avLst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32AE20D-1256-CF2C-7286-77EEA81CAD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587" b="89587" l="5708" r="95005">
                        <a14:foregroundMark x1="13866" y1="36733" x2="38022" y2="11405"/>
                        <a14:foregroundMark x1="11311" y1="39413" x2="11473" y2="39243"/>
                        <a14:foregroundMark x1="9174" y1="41653" x2="10122" y2="40659"/>
                        <a14:foregroundMark x1="38022" y1="11405" x2="56881" y2="10413"/>
                        <a14:foregroundMark x1="56881" y1="10413" x2="67380" y2="12893"/>
                        <a14:foregroundMark x1="67380" y1="12893" x2="83384" y2="36529"/>
                        <a14:foregroundMark x1="89616" y1="40131" x2="95107" y2="43306"/>
                        <a14:foregroundMark x1="83384" y1="36529" x2="86978" y2="38607"/>
                        <a14:foregroundMark x1="95107" y1="43306" x2="93884" y2="92231"/>
                        <a14:foregroundMark x1="93884" y1="92231" x2="11213" y2="90248"/>
                        <a14:foregroundMark x1="11213" y1="90248" x2="6626" y2="78678"/>
                        <a14:foregroundMark x1="6626" y1="78678" x2="8563" y2="41818"/>
                        <a14:foregroundMark x1="68502" y1="42975" x2="75433" y2="46612"/>
                        <a14:foregroundMark x1="75433" y1="46612" x2="86646" y2="68430"/>
                        <a14:foregroundMark x1="86646" y1="68430" x2="83486" y2="86942"/>
                        <a14:foregroundMark x1="83486" y1="86942" x2="82977" y2="87769"/>
                        <a14:foregroundMark x1="93680" y1="46281" x2="95107" y2="88264"/>
                        <a14:foregroundMark x1="75739" y1="57355" x2="5708" y2="63306"/>
                        <a14:foregroundMark x1="34047" y1="30579" x2="14373" y2="75702"/>
                        <a14:foregroundMark x1="46687" y1="27273" x2="44139" y2="69587"/>
                        <a14:foregroundMark x1="86340" y1="81322" x2="16004" y2="68760"/>
                        <a14:foregroundMark x1="12173" y1="41521" x2="12029" y2="40496"/>
                        <a14:foregroundMark x1="16004" y1="68760" x2="12222" y2="41867"/>
                        <a14:foregroundMark x1="14108" y1="37374" x2="21713" y2="25950"/>
                        <a14:foregroundMark x1="12076" y1="40426" x2="12239" y2="40182"/>
                        <a14:foregroundMark x1="21713" y1="25950" x2="35576" y2="19835"/>
                        <a14:foregroundMark x1="35576" y1="19835" x2="55963" y2="23471"/>
                        <a14:foregroundMark x1="55963" y1="23471" x2="84302" y2="48099"/>
                        <a14:foregroundMark x1="84302" y1="48099" x2="89093" y2="80992"/>
                        <a14:foregroundMark x1="89093" y1="80992" x2="86544" y2="87273"/>
                        <a14:foregroundMark x1="89501" y1="85785" x2="87971" y2="70413"/>
                        <a14:foregroundMark x1="87971" y1="70413" x2="79715" y2="43967"/>
                        <a14:foregroundMark x1="79715" y1="43967" x2="50051" y2="16364"/>
                        <a14:foregroundMark x1="50051" y1="16364" x2="49134" y2="14876"/>
                        <a14:foregroundMark x1="9072" y1="68595" x2="25586" y2="79008"/>
                        <a14:foregroundMark x1="25586" y1="79008" x2="50459" y2="78182"/>
                        <a14:foregroundMark x1="50459" y1="78182" x2="60550" y2="79008"/>
                        <a14:foregroundMark x1="65341" y1="85785" x2="21713" y2="83967"/>
                        <a14:foregroundMark x1="90520" y1="40826" x2="86239" y2="40992"/>
                        <a14:backgroundMark x1="12538" y1="39008" x2="12538" y2="39008"/>
                        <a14:backgroundMark x1="11825" y1="38678" x2="13150" y2="36198"/>
                        <a14:backgroundMark x1="13150" y1="36198" x2="11417" y2="39174"/>
                        <a14:backgroundMark x1="13761" y1="36529" x2="12436" y2="37355"/>
                        <a14:backgroundMark x1="11213" y1="39174" x2="9582" y2="393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0696" y="753998"/>
            <a:ext cx="651127" cy="4015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64677" y="682825"/>
            <a:ext cx="31217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外籍主管休假行事曆</a:t>
            </a:r>
            <a:endParaRPr lang="en-US" altLang="zh-TW" sz="2200" b="1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64678" y="972293"/>
            <a:ext cx="27382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altLang="zh-TW" sz="1400" b="1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Expat Manager Leave Calendar</a:t>
            </a:r>
            <a:r>
              <a:rPr lang="vi-VN" altLang="zh-TW" sz="140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 </a:t>
            </a:r>
            <a:endParaRPr lang="zh-TW" altLang="en-US" sz="140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46005" y="633676"/>
            <a:ext cx="8710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>
                <a:latin typeface="Impact" panose="020B0806030902050204" pitchFamily="34" charset="0"/>
                <a:ea typeface="Microsoft JhengHei UI" panose="020B0604030504040204" pitchFamily="34" charset="-120"/>
              </a:rPr>
              <a:t>LYG</a:t>
            </a:r>
            <a:endParaRPr lang="zh-TW" altLang="en-US" sz="4000">
              <a:latin typeface="Impact" panose="020B0806030902050204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946005" y="1334868"/>
            <a:ext cx="947601" cy="524927"/>
            <a:chOff x="1946005" y="1334868"/>
            <a:chExt cx="947601" cy="524927"/>
          </a:xfrm>
        </p:grpSpPr>
        <p:sp>
          <p:nvSpPr>
            <p:cNvPr id="10" name="TextBox 9"/>
            <p:cNvSpPr txBox="1"/>
            <p:nvPr/>
          </p:nvSpPr>
          <p:spPr>
            <a:xfrm>
              <a:off x="1946005" y="1334868"/>
              <a:ext cx="87364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廠別 </a:t>
              </a:r>
              <a:r>
                <a:rPr lang="en-US" altLang="zh-TW" sz="90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Factory</a:t>
              </a:r>
              <a:endParaRPr lang="zh-TW" altLang="en-US" sz="90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012817" y="1555316"/>
              <a:ext cx="880789" cy="304479"/>
              <a:chOff x="2012817" y="1555316"/>
              <a:chExt cx="880789" cy="304479"/>
            </a:xfrm>
          </p:grpSpPr>
          <p:sp>
            <p:nvSpPr>
              <p:cNvPr id="11" name="Rounded Rectangle 10"/>
              <p:cNvSpPr/>
              <p:nvPr/>
            </p:nvSpPr>
            <p:spPr>
              <a:xfrm>
                <a:off x="2012817" y="1555316"/>
                <a:ext cx="880789" cy="304479"/>
              </a:xfrm>
              <a:prstGeom prst="roundRect">
                <a:avLst>
                  <a:gd name="adj" fmla="val 10411"/>
                </a:avLst>
              </a:prstGeom>
              <a:solidFill>
                <a:schemeClr val="bg1"/>
              </a:solidFill>
              <a:ln w="63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Isosceles Triangle 12"/>
              <p:cNvSpPr/>
              <p:nvPr/>
            </p:nvSpPr>
            <p:spPr>
              <a:xfrm flipV="1">
                <a:off x="2779440" y="1664633"/>
                <a:ext cx="85725" cy="73901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33" name="Group 32"/>
          <p:cNvGrpSpPr/>
          <p:nvPr/>
        </p:nvGrpSpPr>
        <p:grpSpPr>
          <a:xfrm>
            <a:off x="4001155" y="1339352"/>
            <a:ext cx="1240510" cy="525609"/>
            <a:chOff x="4001155" y="1339352"/>
            <a:chExt cx="1240510" cy="525609"/>
          </a:xfrm>
        </p:grpSpPr>
        <p:sp>
          <p:nvSpPr>
            <p:cNvPr id="14" name="TextBox 13"/>
            <p:cNvSpPr txBox="1"/>
            <p:nvPr/>
          </p:nvSpPr>
          <p:spPr>
            <a:xfrm>
              <a:off x="4001155" y="1339352"/>
              <a:ext cx="86768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姓名 </a:t>
              </a:r>
              <a:r>
                <a:rPr lang="en-US" altLang="zh-TW" sz="90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Name</a:t>
              </a:r>
              <a:endParaRPr lang="zh-TW" altLang="en-US" sz="90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064576" y="1560482"/>
              <a:ext cx="1177089" cy="304479"/>
            </a:xfrm>
            <a:prstGeom prst="roundRect">
              <a:avLst>
                <a:gd name="adj" fmla="val 10411"/>
              </a:avLst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861446" y="1332246"/>
            <a:ext cx="1158761" cy="532741"/>
            <a:chOff x="2861446" y="1332246"/>
            <a:chExt cx="1158761" cy="532741"/>
          </a:xfrm>
        </p:grpSpPr>
        <p:sp>
          <p:nvSpPr>
            <p:cNvPr id="16" name="TextBox 15"/>
            <p:cNvSpPr txBox="1"/>
            <p:nvPr/>
          </p:nvSpPr>
          <p:spPr>
            <a:xfrm>
              <a:off x="2861446" y="1332246"/>
              <a:ext cx="115876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部門 </a:t>
              </a:r>
              <a:r>
                <a:rPr lang="en-US" altLang="zh-TW" sz="90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Department</a:t>
              </a:r>
              <a:endParaRPr lang="zh-TW" altLang="en-US" sz="90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2935398" y="1560508"/>
              <a:ext cx="1084809" cy="304479"/>
              <a:chOff x="2935398" y="1560508"/>
              <a:chExt cx="1084809" cy="304479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2935398" y="1560508"/>
                <a:ext cx="1084809" cy="304479"/>
              </a:xfrm>
              <a:prstGeom prst="roundRect">
                <a:avLst>
                  <a:gd name="adj" fmla="val 10411"/>
                </a:avLst>
              </a:prstGeom>
              <a:solidFill>
                <a:schemeClr val="bg1"/>
              </a:solidFill>
              <a:ln w="63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Isosceles Triangle 17"/>
              <p:cNvSpPr/>
              <p:nvPr/>
            </p:nvSpPr>
            <p:spPr>
              <a:xfrm flipV="1">
                <a:off x="3906963" y="1675796"/>
                <a:ext cx="85725" cy="73901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21" name="Rounded Rectangle 20"/>
          <p:cNvSpPr/>
          <p:nvPr/>
        </p:nvSpPr>
        <p:spPr>
          <a:xfrm>
            <a:off x="6884567" y="1549342"/>
            <a:ext cx="797222" cy="304479"/>
          </a:xfrm>
          <a:prstGeom prst="roundRect">
            <a:avLst>
              <a:gd name="adj" fmla="val 10411"/>
            </a:avLst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TW" altLang="en-US" sz="10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查詢 </a:t>
            </a:r>
            <a:r>
              <a:rPr lang="en-US" altLang="zh-TW" sz="10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Search</a:t>
            </a:r>
            <a:endParaRPr lang="zh-TW" altLang="en-US" sz="100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6826288" y="3657600"/>
            <a:ext cx="3104096" cy="1525583"/>
            <a:chOff x="6826288" y="3657600"/>
            <a:chExt cx="3104096" cy="1525583"/>
          </a:xfrm>
        </p:grpSpPr>
        <p:grpSp>
          <p:nvGrpSpPr>
            <p:cNvPr id="27" name="Group 26"/>
            <p:cNvGrpSpPr/>
            <p:nvPr/>
          </p:nvGrpSpPr>
          <p:grpSpPr>
            <a:xfrm>
              <a:off x="6826288" y="3657600"/>
              <a:ext cx="3104096" cy="1525583"/>
              <a:chOff x="6826288" y="3657600"/>
              <a:chExt cx="3104096" cy="1525583"/>
            </a:xfrm>
          </p:grpSpPr>
          <p:sp>
            <p:nvSpPr>
              <p:cNvPr id="26" name="Isosceles Triangle 25"/>
              <p:cNvSpPr/>
              <p:nvPr/>
            </p:nvSpPr>
            <p:spPr>
              <a:xfrm>
                <a:off x="7251192" y="3657600"/>
                <a:ext cx="237744" cy="216789"/>
              </a:xfrm>
              <a:prstGeom prst="triangl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500"/>
                  </a:spcAft>
                </a:pPr>
                <a:endParaRPr lang="zh-TW" alt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6826288" y="3874389"/>
                <a:ext cx="3104096" cy="1308794"/>
              </a:xfrm>
              <a:prstGeom prst="roundRect">
                <a:avLst>
                  <a:gd name="adj" fmla="val 6611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500"/>
                  </a:spcAft>
                </a:pPr>
                <a:r>
                  <a:rPr lang="zh-TW" alt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江治云</a:t>
                </a:r>
                <a:endParaRPr lang="en-US" altLang="zh-TW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>
                  <a:spcAft>
                    <a:spcPts val="500"/>
                  </a:spcAft>
                </a:pP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本年度第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次休假</a:t>
                </a:r>
                <a:endParaRPr lang="en-US" altLang="zh-TW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>
                  <a:spcAft>
                    <a:spcPts val="500"/>
                  </a:spcAft>
                </a:pP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休假期間：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2/14~3/1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，共計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16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天</a:t>
                </a:r>
                <a:endParaRPr lang="en-US" altLang="zh-TW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65113" lvl="1" indent="-173038">
                  <a:buFont typeface="Arial" panose="020B0604020202020204" pitchFamily="34" charset="0"/>
                  <a:buChar char="•"/>
                </a:pP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回國休：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2/14~2/27 (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中國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)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，共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14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天</a:t>
                </a:r>
                <a:endParaRPr lang="en-US" altLang="zh-TW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65113" lvl="1" indent="-173038">
                  <a:buFont typeface="Arial" panose="020B0604020202020204" pitchFamily="34" charset="0"/>
                  <a:buChar char="•"/>
                </a:pP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在地休：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2/28~3/1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後江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)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，共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天</a:t>
                </a:r>
                <a:endParaRPr lang="en-US" altLang="zh-TW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>
                  <a:spcAft>
                    <a:spcPts val="500"/>
                  </a:spcAft>
                </a:pPr>
                <a:endParaRPr lang="en-US" altLang="zh-TW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>
                  <a:spcAft>
                    <a:spcPts val="500"/>
                  </a:spcAft>
                </a:pPr>
                <a:endParaRPr lang="zh-TW" alt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3" name="Rounded Rectangle 22"/>
            <p:cNvSpPr/>
            <p:nvPr/>
          </p:nvSpPr>
          <p:spPr>
            <a:xfrm>
              <a:off x="8966644" y="3929692"/>
              <a:ext cx="905256" cy="175964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zh-TW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LHG -</a:t>
              </a:r>
              <a:r>
                <a:rPr lang="zh-TW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量產部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232466" y="1322572"/>
            <a:ext cx="1603238" cy="531250"/>
            <a:chOff x="5232466" y="1322572"/>
            <a:chExt cx="1603238" cy="531250"/>
          </a:xfrm>
        </p:grpSpPr>
        <p:sp>
          <p:nvSpPr>
            <p:cNvPr id="29" name="Rounded Rectangle 28"/>
            <p:cNvSpPr/>
            <p:nvPr/>
          </p:nvSpPr>
          <p:spPr>
            <a:xfrm>
              <a:off x="5286034" y="1549343"/>
              <a:ext cx="1549670" cy="304479"/>
            </a:xfrm>
            <a:prstGeom prst="roundRect">
              <a:avLst>
                <a:gd name="adj" fmla="val 10411"/>
              </a:avLst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TW" altLang="en-US" sz="14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📅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232466" y="1322572"/>
              <a:ext cx="13786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請假日期 </a:t>
              </a:r>
              <a:r>
                <a:rPr lang="en-US" altLang="zh-TW" sz="90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Leave Date</a:t>
              </a:r>
              <a:endParaRPr lang="zh-TW" altLang="en-US" sz="90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091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2354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sz="3200" b="1">
                <a:latin typeface="+mn-lt"/>
              </a:rPr>
              <a:t>Website</a:t>
            </a:r>
            <a:r>
              <a:rPr lang="en-US" altLang="zh-TW" sz="3600" b="1">
                <a:latin typeface="+mn-lt"/>
              </a:rPr>
              <a:t> UI</a:t>
            </a:r>
            <a:br>
              <a:rPr lang="en-US" altLang="zh-TW" sz="3600" b="1">
                <a:latin typeface="+mn-lt"/>
              </a:rPr>
            </a:br>
            <a:r>
              <a:rPr lang="en-US" altLang="zh-TW" sz="3600" b="1">
                <a:latin typeface="+mn-lt"/>
              </a:rPr>
              <a:t>Rules</a:t>
            </a:r>
            <a:endParaRPr lang="zh-TW" altLang="en-US" sz="3600" b="1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33557" y="1792068"/>
            <a:ext cx="14668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9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廠別 </a:t>
            </a:r>
            <a:r>
              <a:rPr lang="en-US" altLang="zh-TW" sz="9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Factory</a:t>
            </a:r>
            <a:endParaRPr lang="zh-TW" altLang="en-US" sz="90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3000369" y="2012516"/>
            <a:ext cx="880789" cy="304479"/>
            <a:chOff x="2012817" y="1555316"/>
            <a:chExt cx="880789" cy="304479"/>
          </a:xfrm>
        </p:grpSpPr>
        <p:sp>
          <p:nvSpPr>
            <p:cNvPr id="11" name="Rounded Rectangle 10"/>
            <p:cNvSpPr/>
            <p:nvPr/>
          </p:nvSpPr>
          <p:spPr>
            <a:xfrm>
              <a:off x="2012817" y="1555316"/>
              <a:ext cx="880789" cy="304479"/>
            </a:xfrm>
            <a:prstGeom prst="roundRect">
              <a:avLst>
                <a:gd name="adj" fmla="val 10411"/>
              </a:avLst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Isosceles Triangle 12"/>
            <p:cNvSpPr/>
            <p:nvPr/>
          </p:nvSpPr>
          <p:spPr>
            <a:xfrm flipV="1">
              <a:off x="2779440" y="1664633"/>
              <a:ext cx="85725" cy="73901"/>
            </a:xfrm>
            <a:prstGeom prst="triangl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988707" y="1796552"/>
            <a:ext cx="8676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9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姓名 </a:t>
            </a:r>
            <a:r>
              <a:rPr lang="en-US" altLang="zh-TW" sz="9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Name</a:t>
            </a:r>
            <a:endParaRPr lang="zh-TW" altLang="en-US" sz="90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52128" y="2017682"/>
            <a:ext cx="1549670" cy="304479"/>
          </a:xfrm>
          <a:prstGeom prst="roundRect">
            <a:avLst>
              <a:gd name="adj" fmla="val 10411"/>
            </a:avLst>
          </a:prstGeom>
          <a:solidFill>
            <a:schemeClr val="bg1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848998" y="1789446"/>
            <a:ext cx="11587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9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部門 </a:t>
            </a:r>
            <a:r>
              <a:rPr lang="en-US" altLang="zh-TW" sz="9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Department</a:t>
            </a:r>
            <a:endParaRPr lang="zh-TW" altLang="en-US" sz="90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3922950" y="2017708"/>
            <a:ext cx="1084809" cy="304479"/>
            <a:chOff x="2935398" y="1560508"/>
            <a:chExt cx="1084809" cy="304479"/>
          </a:xfrm>
        </p:grpSpPr>
        <p:sp>
          <p:nvSpPr>
            <p:cNvPr id="17" name="Rounded Rectangle 16"/>
            <p:cNvSpPr/>
            <p:nvPr/>
          </p:nvSpPr>
          <p:spPr>
            <a:xfrm>
              <a:off x="2935398" y="1560508"/>
              <a:ext cx="1084809" cy="304479"/>
            </a:xfrm>
            <a:prstGeom prst="roundRect">
              <a:avLst>
                <a:gd name="adj" fmla="val 10411"/>
              </a:avLst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Isosceles Triangle 17"/>
            <p:cNvSpPr/>
            <p:nvPr/>
          </p:nvSpPr>
          <p:spPr>
            <a:xfrm flipV="1">
              <a:off x="3906963" y="1675796"/>
              <a:ext cx="85725" cy="73901"/>
            </a:xfrm>
            <a:prstGeom prst="triangl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8250674" y="2006543"/>
            <a:ext cx="797222" cy="304479"/>
          </a:xfrm>
          <a:prstGeom prst="roundRect">
            <a:avLst>
              <a:gd name="adj" fmla="val 10411"/>
            </a:avLst>
          </a:prstGeom>
          <a:solidFill>
            <a:schemeClr val="accent1">
              <a:lumMod val="75000"/>
            </a:schemeClr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TW" altLang="en-US" sz="10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查詢 </a:t>
            </a:r>
            <a:r>
              <a:rPr lang="en-US" altLang="zh-TW" sz="10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Search</a:t>
            </a:r>
            <a:endParaRPr lang="zh-TW" altLang="en-US" sz="100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0382" y="4801580"/>
            <a:ext cx="4405993" cy="175432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/>
                </a:solidFill>
                <a:ea typeface="微軟正黑體" panose="020B0604030504040204" pitchFamily="34" charset="-120"/>
              </a:rPr>
              <a:t>Department data must be linked to the selected site. The department list should display only departments under the chosen site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/>
                </a:solidFill>
                <a:ea typeface="微軟正黑體" panose="020B0604030504040204" pitchFamily="34" charset="-120"/>
              </a:rPr>
              <a:t>Add an “ALL” option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chemeClr val="bg1"/>
                </a:solidFill>
                <a:ea typeface="微軟正黑體" panose="020B0604030504040204" pitchFamily="34" charset="-120"/>
              </a:rPr>
              <a:t>Allow multiple selections</a:t>
            </a:r>
            <a:endParaRPr lang="zh-TW" altLang="en-US">
              <a:solidFill>
                <a:schemeClr val="bg1"/>
              </a:solidFill>
              <a:ea typeface="微軟正黑體" panose="020B0604030504040204" pitchFamily="34" charset="-120"/>
            </a:endParaRPr>
          </a:p>
        </p:txBody>
      </p:sp>
      <p:cxnSp>
        <p:nvCxnSpPr>
          <p:cNvPr id="22" name="Straight Arrow Connector 21"/>
          <p:cNvCxnSpPr>
            <a:stCxn id="17" idx="2"/>
            <a:endCxn id="2" idx="0"/>
          </p:cNvCxnSpPr>
          <p:nvPr/>
        </p:nvCxnSpPr>
        <p:spPr>
          <a:xfrm flipH="1">
            <a:off x="3993379" y="2322187"/>
            <a:ext cx="471976" cy="2479393"/>
          </a:xfrm>
          <a:prstGeom prst="straightConnector1">
            <a:avLst/>
          </a:prstGeom>
          <a:ln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34833" y="3560265"/>
            <a:ext cx="3154680" cy="64633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zh-TW">
                <a:latin typeface="+mn-lt"/>
              </a:rPr>
              <a:t>Add an “ALL” option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zh-TW">
                <a:latin typeface="+mn-lt"/>
              </a:rPr>
              <a:t>Allow multiple selections</a:t>
            </a:r>
            <a:endParaRPr lang="zh-TW" altLang="en-US">
              <a:latin typeface="+mn-lt"/>
            </a:endParaRPr>
          </a:p>
        </p:txBody>
      </p:sp>
      <p:cxnSp>
        <p:nvCxnSpPr>
          <p:cNvPr id="35" name="Straight Arrow Connector 34"/>
          <p:cNvCxnSpPr>
            <a:stCxn id="11" idx="2"/>
            <a:endCxn id="34" idx="0"/>
          </p:cNvCxnSpPr>
          <p:nvPr/>
        </p:nvCxnSpPr>
        <p:spPr>
          <a:xfrm flipH="1">
            <a:off x="2412173" y="2316995"/>
            <a:ext cx="1028591" cy="124327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5" idx="2"/>
            <a:endCxn id="48" idx="0"/>
          </p:cNvCxnSpPr>
          <p:nvPr/>
        </p:nvCxnSpPr>
        <p:spPr>
          <a:xfrm>
            <a:off x="5826963" y="2322161"/>
            <a:ext cx="2423711" cy="2479419"/>
          </a:xfrm>
          <a:prstGeom prst="straightConnector1">
            <a:avLst/>
          </a:prstGeom>
          <a:ln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541453" y="4801580"/>
            <a:ext cx="3418442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chemeClr val="bg1"/>
                </a:solidFill>
                <a:ea typeface="微軟正黑體" panose="020B0604030504040204" pitchFamily="34" charset="-120"/>
              </a:rPr>
              <a:t>Allow searches by </a:t>
            </a:r>
            <a:r>
              <a:rPr lang="en-US" altLang="zh-TW">
                <a:solidFill>
                  <a:srgbClr val="FFFF00"/>
                </a:solidFill>
                <a:ea typeface="微軟正黑體" panose="020B0604030504040204" pitchFamily="34" charset="-120"/>
              </a:rPr>
              <a:t>English name</a:t>
            </a:r>
            <a:r>
              <a:rPr lang="en-US" altLang="zh-TW">
                <a:solidFill>
                  <a:schemeClr val="bg1"/>
                </a:solidFill>
                <a:ea typeface="微軟正黑體" panose="020B0604030504040204" pitchFamily="34" charset="-120"/>
              </a:rPr>
              <a:t>, </a:t>
            </a:r>
            <a:r>
              <a:rPr lang="en-US" altLang="zh-TW">
                <a:solidFill>
                  <a:srgbClr val="FFFF00"/>
                </a:solidFill>
                <a:ea typeface="微軟正黑體" panose="020B0604030504040204" pitchFamily="34" charset="-120"/>
              </a:rPr>
              <a:t>Chinese name</a:t>
            </a:r>
            <a:r>
              <a:rPr lang="en-US" altLang="zh-TW">
                <a:solidFill>
                  <a:schemeClr val="bg1"/>
                </a:solidFill>
                <a:ea typeface="微軟正黑體" panose="020B0604030504040204" pitchFamily="34" charset="-120"/>
              </a:rPr>
              <a:t>, or </a:t>
            </a:r>
            <a:r>
              <a:rPr lang="en-US" altLang="zh-TW">
                <a:solidFill>
                  <a:srgbClr val="FFFF00"/>
                </a:solidFill>
                <a:ea typeface="微軟正黑體" panose="020B0604030504040204" pitchFamily="34" charset="-120"/>
              </a:rPr>
              <a:t>BPM account</a:t>
            </a:r>
            <a:endParaRPr lang="en-US" altLang="zh-TW">
              <a:solidFill>
                <a:schemeClr val="bg1"/>
              </a:solidFill>
              <a:ea typeface="微軟正黑體" panose="020B0604030504040204" pitchFamily="34" charset="-120"/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6597833" y="1796552"/>
            <a:ext cx="1603238" cy="531250"/>
            <a:chOff x="5232466" y="1322572"/>
            <a:chExt cx="1603238" cy="531250"/>
          </a:xfrm>
        </p:grpSpPr>
        <p:sp>
          <p:nvSpPr>
            <p:cNvPr id="55" name="Rounded Rectangle 54"/>
            <p:cNvSpPr/>
            <p:nvPr/>
          </p:nvSpPr>
          <p:spPr>
            <a:xfrm>
              <a:off x="5286034" y="1549343"/>
              <a:ext cx="1549670" cy="304479"/>
            </a:xfrm>
            <a:prstGeom prst="roundRect">
              <a:avLst>
                <a:gd name="adj" fmla="val 10411"/>
              </a:avLst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TW" altLang="en-US" sz="14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📅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232466" y="1322572"/>
              <a:ext cx="13786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請假日期 </a:t>
              </a:r>
              <a:r>
                <a:rPr lang="en-US" altLang="zh-TW" sz="90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Leave Date</a:t>
              </a:r>
              <a:endParaRPr lang="zh-TW" altLang="en-US" sz="90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8250674" y="3560264"/>
            <a:ext cx="3614374" cy="6463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>
                <a:latin typeface="+mn-lt"/>
              </a:rPr>
              <a:t>Retrieve leave records that meet the criteria based on the selected date</a:t>
            </a:r>
            <a:endParaRPr lang="zh-TW" altLang="en-US">
              <a:latin typeface="+mn-lt"/>
            </a:endParaRPr>
          </a:p>
        </p:txBody>
      </p:sp>
      <p:cxnSp>
        <p:nvCxnSpPr>
          <p:cNvPr id="65" name="Straight Arrow Connector 64"/>
          <p:cNvCxnSpPr>
            <a:stCxn id="55" idx="2"/>
            <a:endCxn id="64" idx="0"/>
          </p:cNvCxnSpPr>
          <p:nvPr/>
        </p:nvCxnSpPr>
        <p:spPr>
          <a:xfrm>
            <a:off x="7426236" y="2327802"/>
            <a:ext cx="2631625" cy="123246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042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/>
          <p:cNvSpPr/>
          <p:nvPr/>
        </p:nvSpPr>
        <p:spPr>
          <a:xfrm>
            <a:off x="309230" y="1596390"/>
            <a:ext cx="8845818" cy="4762500"/>
          </a:xfrm>
          <a:prstGeom prst="roundRect">
            <a:avLst>
              <a:gd name="adj" fmla="val 1991"/>
            </a:avLst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2354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sz="3200" b="1">
                <a:latin typeface="+mn-lt"/>
              </a:rPr>
              <a:t>Website</a:t>
            </a:r>
            <a:r>
              <a:rPr lang="en-US" altLang="zh-TW" sz="3600" b="1">
                <a:latin typeface="+mn-lt"/>
              </a:rPr>
              <a:t> UI</a:t>
            </a:r>
            <a:br>
              <a:rPr lang="en-US" altLang="zh-TW" sz="3600" b="1">
                <a:latin typeface="+mn-lt"/>
              </a:rPr>
            </a:br>
            <a:r>
              <a:rPr lang="en-US" altLang="zh-TW" sz="3600" b="1">
                <a:latin typeface="+mn-lt"/>
              </a:rPr>
              <a:t>Rules</a:t>
            </a:r>
            <a:endParaRPr lang="zh-TW" altLang="en-US" sz="3600" b="1">
              <a:latin typeface="+mn-lt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562240" y="3223992"/>
            <a:ext cx="3104096" cy="1525583"/>
            <a:chOff x="6826288" y="3657600"/>
            <a:chExt cx="3104096" cy="1525583"/>
          </a:xfrm>
        </p:grpSpPr>
        <p:grpSp>
          <p:nvGrpSpPr>
            <p:cNvPr id="24" name="Group 23"/>
            <p:cNvGrpSpPr/>
            <p:nvPr/>
          </p:nvGrpSpPr>
          <p:grpSpPr>
            <a:xfrm>
              <a:off x="6826288" y="3657600"/>
              <a:ext cx="3104096" cy="1525583"/>
              <a:chOff x="6826288" y="3657600"/>
              <a:chExt cx="3104096" cy="1525583"/>
            </a:xfrm>
          </p:grpSpPr>
          <p:sp>
            <p:nvSpPr>
              <p:cNvPr id="26" name="Isosceles Triangle 25"/>
              <p:cNvSpPr/>
              <p:nvPr/>
            </p:nvSpPr>
            <p:spPr>
              <a:xfrm>
                <a:off x="7251192" y="3657600"/>
                <a:ext cx="237744" cy="216789"/>
              </a:xfrm>
              <a:prstGeom prst="triangl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500"/>
                  </a:spcAft>
                </a:pPr>
                <a:endParaRPr lang="zh-TW" alt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6826288" y="3874389"/>
                <a:ext cx="3104096" cy="1308794"/>
              </a:xfrm>
              <a:prstGeom prst="roundRect">
                <a:avLst>
                  <a:gd name="adj" fmla="val 6611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500"/>
                  </a:spcAft>
                </a:pPr>
                <a:r>
                  <a:rPr lang="zh-TW" alt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江治云</a:t>
                </a:r>
                <a:endParaRPr lang="en-US" altLang="zh-TW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>
                  <a:spcAft>
                    <a:spcPts val="500"/>
                  </a:spcAft>
                </a:pP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本年度第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次休假</a:t>
                </a:r>
                <a:endParaRPr lang="en-US" altLang="zh-TW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>
                  <a:spcAft>
                    <a:spcPts val="500"/>
                  </a:spcAft>
                </a:pP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休假期間：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2/14~3/1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，共計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16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天</a:t>
                </a:r>
                <a:endParaRPr lang="en-US" altLang="zh-TW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65113" lvl="1" indent="-173038">
                  <a:buFont typeface="Arial" panose="020B0604020202020204" pitchFamily="34" charset="0"/>
                  <a:buChar char="•"/>
                </a:pP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回國休：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2/14~2/27 (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中國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)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，共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14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天</a:t>
                </a:r>
                <a:endParaRPr lang="en-US" altLang="zh-TW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65113" lvl="1" indent="-173038">
                  <a:buFont typeface="Arial" panose="020B0604020202020204" pitchFamily="34" charset="0"/>
                  <a:buChar char="•"/>
                </a:pP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在地休：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2/28~3/1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後江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)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，共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天</a:t>
                </a:r>
                <a:endParaRPr lang="en-US" altLang="zh-TW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>
                  <a:spcAft>
                    <a:spcPts val="500"/>
                  </a:spcAft>
                </a:pPr>
                <a:endParaRPr lang="en-US" altLang="zh-TW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>
                  <a:spcAft>
                    <a:spcPts val="500"/>
                  </a:spcAft>
                </a:pPr>
                <a:endParaRPr lang="zh-TW" alt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5" name="Rounded Rectangle 24"/>
            <p:cNvSpPr/>
            <p:nvPr/>
          </p:nvSpPr>
          <p:spPr>
            <a:xfrm>
              <a:off x="8966644" y="3929692"/>
              <a:ext cx="905256" cy="175964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zh-TW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LHG -</a:t>
              </a:r>
              <a:r>
                <a:rPr lang="zh-TW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量產部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616380" y="1872254"/>
            <a:ext cx="4405993" cy="64633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chemeClr val="bg1"/>
                </a:solidFill>
                <a:ea typeface="微軟正黑體" panose="020B0604030504040204" pitchFamily="34" charset="-120"/>
              </a:rPr>
              <a:t>Display the detailed information when the mouse hovers on the bar</a:t>
            </a:r>
            <a:endParaRPr lang="zh-TW" altLang="en-US">
              <a:solidFill>
                <a:schemeClr val="bg1"/>
              </a:solidFill>
              <a:ea typeface="微軟正黑體" panose="020B0604030504040204" pitchFamily="34" charset="-120"/>
            </a:endParaRPr>
          </a:p>
        </p:txBody>
      </p:sp>
      <p:cxnSp>
        <p:nvCxnSpPr>
          <p:cNvPr id="5" name="Straight Arrow Connector 4"/>
          <p:cNvCxnSpPr>
            <a:stCxn id="27" idx="0"/>
            <a:endCxn id="29" idx="1"/>
          </p:cNvCxnSpPr>
          <p:nvPr/>
        </p:nvCxnSpPr>
        <p:spPr>
          <a:xfrm flipV="1">
            <a:off x="6114288" y="2195420"/>
            <a:ext cx="1502092" cy="1245361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881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2354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sz="3600" b="1">
                <a:latin typeface="+mn-lt"/>
              </a:rPr>
              <a:t>Detailed </a:t>
            </a:r>
            <a:r>
              <a:rPr lang="en-US" altLang="zh-TW" sz="3600" b="1" smtClean="0">
                <a:latin typeface="+mn-lt"/>
              </a:rPr>
              <a:t>Information</a:t>
            </a:r>
            <a:r>
              <a:rPr lang="en-US" altLang="zh-TW" sz="3600" b="1" dirty="0">
                <a:latin typeface="+mn-lt"/>
              </a:rPr>
              <a:t/>
            </a:r>
            <a:br>
              <a:rPr lang="en-US" altLang="zh-TW" sz="3600" b="1" dirty="0">
                <a:latin typeface="+mn-lt"/>
              </a:rPr>
            </a:br>
            <a:r>
              <a:rPr lang="en-US" altLang="zh-TW" sz="3600" b="1" dirty="0">
                <a:latin typeface="+mn-lt"/>
              </a:rPr>
              <a:t>Display Rules</a:t>
            </a:r>
            <a:endParaRPr lang="zh-TW" altLang="en-US" sz="3600" b="1" dirty="0">
              <a:latin typeface="+mn-lt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05107" y="1314207"/>
            <a:ext cx="3104096" cy="1525583"/>
            <a:chOff x="6826288" y="3657600"/>
            <a:chExt cx="3104096" cy="1525583"/>
          </a:xfrm>
        </p:grpSpPr>
        <p:grpSp>
          <p:nvGrpSpPr>
            <p:cNvPr id="24" name="Group 23"/>
            <p:cNvGrpSpPr/>
            <p:nvPr/>
          </p:nvGrpSpPr>
          <p:grpSpPr>
            <a:xfrm>
              <a:off x="6826288" y="3657600"/>
              <a:ext cx="3104096" cy="1525583"/>
              <a:chOff x="6826288" y="3657600"/>
              <a:chExt cx="3104096" cy="1525583"/>
            </a:xfrm>
          </p:grpSpPr>
          <p:sp>
            <p:nvSpPr>
              <p:cNvPr id="26" name="Isosceles Triangle 25"/>
              <p:cNvSpPr/>
              <p:nvPr/>
            </p:nvSpPr>
            <p:spPr>
              <a:xfrm>
                <a:off x="7251192" y="3657600"/>
                <a:ext cx="237744" cy="216789"/>
              </a:xfrm>
              <a:prstGeom prst="triangl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500"/>
                  </a:spcAft>
                </a:pPr>
                <a:endParaRPr lang="zh-TW" alt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6826288" y="3874389"/>
                <a:ext cx="3104096" cy="1308794"/>
              </a:xfrm>
              <a:prstGeom prst="roundRect">
                <a:avLst>
                  <a:gd name="adj" fmla="val 6611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500"/>
                  </a:spcAft>
                </a:pPr>
                <a:r>
                  <a:rPr lang="zh-TW" altLang="en-US" b="1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江治云</a:t>
                </a:r>
                <a:endParaRPr lang="en-US" altLang="zh-TW" b="1">
                  <a:solidFill>
                    <a:srgbClr val="0070C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>
                  <a:spcAft>
                    <a:spcPts val="500"/>
                  </a:spcAft>
                </a:pP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本年度第</a:t>
                </a:r>
                <a:r>
                  <a:rPr lang="en-US" altLang="zh-TW" sz="120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次休假</a:t>
                </a:r>
                <a:endParaRPr lang="en-US" altLang="zh-TW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>
                  <a:spcAft>
                    <a:spcPts val="500"/>
                  </a:spcAft>
                </a:pP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休假期間：</a:t>
                </a:r>
                <a:r>
                  <a:rPr lang="en-US" altLang="zh-TW" sz="120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2/14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~</a:t>
                </a:r>
                <a:r>
                  <a:rPr lang="en-US" altLang="zh-TW" sz="120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3/1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，共計</a:t>
                </a:r>
                <a:r>
                  <a:rPr lang="en-US" altLang="zh-TW" sz="120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16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天</a:t>
                </a:r>
                <a:endParaRPr lang="en-US" altLang="zh-TW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65113" lvl="1" indent="-173038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zh-TW" altLang="en-US" sz="120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回國休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：</a:t>
                </a:r>
                <a:r>
                  <a:rPr lang="en-US" altLang="zh-TW" sz="120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2/14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~</a:t>
                </a:r>
                <a:r>
                  <a:rPr lang="en-US" altLang="zh-TW" sz="120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2/27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(</a:t>
                </a:r>
                <a:r>
                  <a:rPr lang="zh-TW" altLang="en-US" sz="120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中國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)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，共</a:t>
                </a:r>
                <a:r>
                  <a:rPr lang="en-US" altLang="zh-TW" sz="120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14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天</a:t>
                </a:r>
                <a:endParaRPr lang="en-US" altLang="zh-TW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65113" lvl="1" indent="-173038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zh-TW" altLang="en-US" sz="120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在地休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：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en-US" altLang="zh-TW" sz="120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2/28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~</a:t>
                </a:r>
                <a:r>
                  <a:rPr lang="en-US" altLang="zh-TW" sz="120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3/1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</a:t>
                </a:r>
                <a:r>
                  <a:rPr lang="zh-TW" altLang="en-US" sz="120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後江</a:t>
                </a:r>
                <a:r>
                  <a:rPr lang="en-US" altLang="zh-TW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)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，共</a:t>
                </a:r>
                <a:r>
                  <a:rPr lang="en-US" altLang="zh-TW" sz="120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</a:t>
                </a:r>
                <a:r>
                  <a:rPr lang="zh-TW" altLang="en-US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天</a:t>
                </a:r>
                <a:endParaRPr lang="en-US" altLang="zh-TW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>
                  <a:spcAft>
                    <a:spcPts val="500"/>
                  </a:spcAft>
                </a:pPr>
                <a:endParaRPr lang="en-US" altLang="zh-TW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>
                  <a:spcAft>
                    <a:spcPts val="500"/>
                  </a:spcAft>
                </a:pPr>
                <a:endParaRPr lang="zh-TW" alt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5" name="Rounded Rectangle 24"/>
            <p:cNvSpPr/>
            <p:nvPr/>
          </p:nvSpPr>
          <p:spPr>
            <a:xfrm>
              <a:off x="8966644" y="3929692"/>
              <a:ext cx="905256" cy="175964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zh-TW" sz="900">
                  <a:solidFill>
                    <a:srgbClr val="0070C0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LHG</a:t>
              </a:r>
              <a:r>
                <a:rPr lang="en-US" altLang="zh-TW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 -</a:t>
              </a:r>
              <a:r>
                <a:rPr lang="zh-TW" altLang="en-US" sz="900">
                  <a:solidFill>
                    <a:srgbClr val="0070C0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量產部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57439" y="1270178"/>
            <a:ext cx="5844893" cy="1585075"/>
            <a:chOff x="6826287" y="3657600"/>
            <a:chExt cx="5844893" cy="1585075"/>
          </a:xfrm>
        </p:grpSpPr>
        <p:grpSp>
          <p:nvGrpSpPr>
            <p:cNvPr id="12" name="Group 11"/>
            <p:cNvGrpSpPr/>
            <p:nvPr/>
          </p:nvGrpSpPr>
          <p:grpSpPr>
            <a:xfrm>
              <a:off x="6826287" y="3657600"/>
              <a:ext cx="5844893" cy="1585075"/>
              <a:chOff x="6826287" y="3657600"/>
              <a:chExt cx="5844893" cy="1585075"/>
            </a:xfrm>
          </p:grpSpPr>
          <p:sp>
            <p:nvSpPr>
              <p:cNvPr id="14" name="Isosceles Triangle 13"/>
              <p:cNvSpPr/>
              <p:nvPr/>
            </p:nvSpPr>
            <p:spPr>
              <a:xfrm>
                <a:off x="7251192" y="3657600"/>
                <a:ext cx="237744" cy="216789"/>
              </a:xfrm>
              <a:prstGeom prst="triangl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500"/>
                  </a:spcAft>
                </a:pPr>
                <a:endParaRPr lang="zh-TW" alt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6826287" y="3874389"/>
                <a:ext cx="5844893" cy="1368286"/>
              </a:xfrm>
              <a:prstGeom prst="roundRect">
                <a:avLst>
                  <a:gd name="adj" fmla="val 6611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500"/>
                  </a:spcAft>
                </a:pPr>
                <a:r>
                  <a:rPr lang="en-US" altLang="zh-TW" b="1" dirty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{Name}</a:t>
                </a:r>
              </a:p>
              <a:p>
                <a:pPr>
                  <a:spcAft>
                    <a:spcPts val="500"/>
                  </a:spcAft>
                </a:pPr>
                <a:r>
                  <a:rPr lang="zh-TW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本年度第</a:t>
                </a:r>
                <a:r>
                  <a:rPr lang="en-US" altLang="zh-TW" sz="1200" dirty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{</a:t>
                </a:r>
                <a:r>
                  <a:rPr lang="en-US" altLang="zh-TW" sz="1200" dirty="0" err="1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This_year_leave_times</a:t>
                </a:r>
                <a:r>
                  <a:rPr lang="en-US" altLang="zh-TW" sz="1200" dirty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}</a:t>
                </a:r>
                <a:r>
                  <a:rPr lang="zh-TW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次休假</a:t>
                </a:r>
                <a:endParaRPr lang="en-US" altLang="zh-TW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>
                  <a:spcAft>
                    <a:spcPts val="500"/>
                  </a:spcAft>
                </a:pPr>
                <a:r>
                  <a:rPr lang="zh-TW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休假期間：</a:t>
                </a:r>
                <a:r>
                  <a:rPr lang="en-US" altLang="zh-TW" sz="1200" dirty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{</a:t>
                </a:r>
                <a:r>
                  <a:rPr lang="en-US" altLang="zh-TW" sz="1200" dirty="0" err="1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Leave_sart_date</a:t>
                </a:r>
                <a:r>
                  <a:rPr lang="en-US" altLang="zh-TW" sz="1200" dirty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} </a:t>
                </a:r>
                <a:r>
                  <a:rPr lang="en-US" altLang="zh-TW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~ </a:t>
                </a:r>
                <a:r>
                  <a:rPr lang="en-US" altLang="zh-TW" sz="1200" dirty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{</a:t>
                </a:r>
                <a:r>
                  <a:rPr lang="en-US" altLang="zh-TW" sz="1200" dirty="0" err="1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Leave_end_date</a:t>
                </a:r>
                <a:r>
                  <a:rPr lang="en-US" altLang="zh-TW" sz="1200" dirty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} </a:t>
                </a:r>
                <a:r>
                  <a:rPr lang="zh-TW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，共計</a:t>
                </a:r>
                <a:r>
                  <a:rPr lang="en-US" altLang="zh-TW" sz="1200" dirty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{</a:t>
                </a:r>
                <a:r>
                  <a:rPr lang="en-US" altLang="zh-TW" sz="1200" dirty="0" err="1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Total_leave_days</a:t>
                </a:r>
                <a:r>
                  <a:rPr lang="en-US" altLang="zh-TW" sz="1200" dirty="0">
                    <a:solidFill>
                      <a:srgbClr val="0070C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}</a:t>
                </a:r>
                <a:r>
                  <a:rPr lang="zh-TW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天</a:t>
                </a:r>
                <a:endParaRPr lang="en-US" altLang="zh-TW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65113" lvl="1" indent="-173038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altLang="zh-TW" sz="1200" dirty="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{Leave_type_1}</a:t>
                </a:r>
                <a:r>
                  <a:rPr lang="zh-TW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：</a:t>
                </a:r>
                <a:r>
                  <a:rPr lang="en-US" altLang="zh-TW" sz="1200" dirty="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{start_date_1}</a:t>
                </a:r>
                <a:r>
                  <a:rPr lang="en-US" altLang="zh-TW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~</a:t>
                </a:r>
                <a:r>
                  <a:rPr lang="en-US" altLang="zh-TW" sz="1200" dirty="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{end_date_1}</a:t>
                </a:r>
                <a:r>
                  <a:rPr lang="en-US" altLang="zh-TW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(</a:t>
                </a:r>
                <a:r>
                  <a:rPr lang="en-US" altLang="zh-TW" sz="1200" dirty="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{Location_1}</a:t>
                </a:r>
                <a:r>
                  <a:rPr lang="en-US" altLang="zh-TW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)</a:t>
                </a:r>
                <a:r>
                  <a:rPr lang="zh-TW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，共</a:t>
                </a:r>
                <a:r>
                  <a:rPr lang="en-US" altLang="zh-TW" sz="1200" dirty="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{Days_1}</a:t>
                </a:r>
                <a:r>
                  <a:rPr lang="zh-TW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天</a:t>
                </a:r>
                <a:endParaRPr lang="en-US" altLang="zh-TW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65113" lvl="1" indent="-173038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altLang="zh-TW" sz="1200" dirty="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{Leave_type_2}</a:t>
                </a:r>
                <a:r>
                  <a:rPr lang="zh-TW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：</a:t>
                </a:r>
                <a:r>
                  <a:rPr lang="en-US" altLang="zh-TW" sz="1200" dirty="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{start_date_2}</a:t>
                </a:r>
                <a:r>
                  <a:rPr lang="en-US" altLang="zh-TW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~</a:t>
                </a:r>
                <a:r>
                  <a:rPr lang="en-US" altLang="zh-TW" sz="1200" dirty="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{end_date_2}</a:t>
                </a:r>
                <a:r>
                  <a:rPr lang="en-US" altLang="zh-TW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(</a:t>
                </a:r>
                <a:r>
                  <a:rPr lang="en-US" altLang="zh-TW" sz="1200" dirty="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{Location_2}</a:t>
                </a:r>
                <a:r>
                  <a:rPr lang="en-US" altLang="zh-TW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)</a:t>
                </a:r>
                <a:r>
                  <a:rPr lang="zh-TW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，共</a:t>
                </a:r>
                <a:r>
                  <a:rPr lang="en-US" altLang="zh-TW" sz="1200" dirty="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{Days_2}</a:t>
                </a:r>
                <a:r>
                  <a:rPr lang="zh-TW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天</a:t>
                </a:r>
                <a:endParaRPr lang="en-US" altLang="zh-TW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>
                  <a:spcAft>
                    <a:spcPts val="500"/>
                  </a:spcAft>
                </a:pPr>
                <a:endParaRPr lang="zh-TW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10981710" y="3923993"/>
              <a:ext cx="1603205" cy="175964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zh-TW" sz="900">
                  <a:solidFill>
                    <a:srgbClr val="0070C0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{factory} </a:t>
              </a:r>
              <a:r>
                <a:rPr lang="en-US" altLang="zh-TW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-</a:t>
              </a:r>
              <a:r>
                <a:rPr lang="en-US" altLang="zh-TW" sz="900">
                  <a:solidFill>
                    <a:srgbClr val="0070C0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 {Department}</a:t>
              </a:r>
              <a:endParaRPr lang="zh-TW" altLang="en-US" sz="90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30" y="3349794"/>
            <a:ext cx="11954404" cy="248357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6265" y="4163113"/>
            <a:ext cx="3429001" cy="164485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1122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2041</TotalTime>
  <Words>892</Words>
  <Application>Microsoft Office PowerPoint</Application>
  <PresentationFormat>Widescreen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Microsoft JhengHei UI</vt:lpstr>
      <vt:lpstr>微軟正黑體</vt:lpstr>
      <vt:lpstr>新細明體</vt:lpstr>
      <vt:lpstr>Arial</vt:lpstr>
      <vt:lpstr>Bahnschrift SemiBold</vt:lpstr>
      <vt:lpstr>Calibri</vt:lpstr>
      <vt:lpstr>Calibri Light</vt:lpstr>
      <vt:lpstr>Impact</vt:lpstr>
      <vt:lpstr>Times New Roman</vt:lpstr>
      <vt:lpstr>Office Theme</vt:lpstr>
      <vt:lpstr>PowerPoint Presentation</vt:lpstr>
      <vt:lpstr>PowerPoint Presentation</vt:lpstr>
      <vt:lpstr>PowerPoint Presentation</vt:lpstr>
      <vt:lpstr>Website UI</vt:lpstr>
      <vt:lpstr>Website UI Rules</vt:lpstr>
      <vt:lpstr>Website UI Rules</vt:lpstr>
      <vt:lpstr>Detailed Information Display Rules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YiYen</dc:creator>
  <cp:lastModifiedBy>Trương Tấn Đạt</cp:lastModifiedBy>
  <cp:revision>126</cp:revision>
  <dcterms:created xsi:type="dcterms:W3CDTF">2026-01-07T03:09:11Z</dcterms:created>
  <dcterms:modified xsi:type="dcterms:W3CDTF">2026-02-10T02:00:59Z</dcterms:modified>
</cp:coreProperties>
</file>